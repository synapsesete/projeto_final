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Projeto de Agentes Autônomos com Redes Generativas. </a:t>
            </a:r>
            <a:r>
              <a:rPr b="1" lang="en-US">
                <a:solidFill>
                  <a:schemeClr val="dk1"/>
                </a:solidFill>
              </a:rPr>
              <a:t>Objetivo Central:</a:t>
            </a:r>
            <a:r>
              <a:rPr lang="en-US">
                <a:solidFill>
                  <a:schemeClr val="dk1"/>
                </a:solidFill>
              </a:rPr>
              <a:t> Automatizar o processamento e a análise de documentos fiscais (NF-e, DANFE, etc.) no ecossistema tributário brasileiro.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296400" y="0"/>
            <a:ext cx="8991600" cy="10287000"/>
          </a:xfrm>
          <a:custGeom>
            <a:rect b="b" l="l" r="r" t="t"/>
            <a:pathLst>
              <a:path extrusionOk="0" h="1593725" w="1393034">
                <a:moveTo>
                  <a:pt x="0" y="0"/>
                </a:moveTo>
                <a:lnTo>
                  <a:pt x="1393034" y="0"/>
                </a:lnTo>
                <a:lnTo>
                  <a:pt x="1393034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" l="0" r="0" t="-377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956375" y="1390050"/>
            <a:ext cx="7322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Sistema Multiagente para Análise de Documentos Fiscais</a:t>
            </a:r>
            <a:endParaRPr sz="4800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570328" y="3096712"/>
            <a:ext cx="8399925" cy="6228996"/>
            <a:chOff x="-128562" y="-1829662"/>
            <a:chExt cx="11199900" cy="10995579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-128562" y="2237417"/>
              <a:ext cx="11199900" cy="69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Grupo Synapse 7:</a:t>
              </a:r>
              <a:endParaRPr b="1" sz="3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450850" lvl="0" marL="457200" rtl="0" algn="l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Roboto Mono"/>
                <a:buChar char="●"/>
              </a:pPr>
              <a:r>
                <a:rPr lang="en-US" sz="35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Adriana Rocha Castro de Paula</a:t>
              </a:r>
              <a:endParaRPr sz="3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4508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Roboto Mono"/>
                <a:buChar char="●"/>
              </a:pPr>
              <a:r>
                <a:rPr lang="en-US" sz="35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Conrado Gornic</a:t>
              </a:r>
              <a:endParaRPr sz="3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4508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Roboto Mono"/>
                <a:buChar char="●"/>
              </a:pPr>
              <a:r>
                <a:rPr lang="en-US" sz="35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Lia Yumi Morimoto</a:t>
              </a:r>
              <a:endParaRPr sz="3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4508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Roboto Mono"/>
                <a:buChar char="●"/>
              </a:pPr>
              <a:r>
                <a:rPr lang="en-US" sz="35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Rodrigo Mibielli Peixoto </a:t>
              </a:r>
              <a:endParaRPr sz="3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-1829662"/>
              <a:ext cx="9182100" cy="13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800"/>
            </a:p>
          </p:txBody>
        </p:sp>
      </p:grpSp>
      <p:cxnSp>
        <p:nvCxnSpPr>
          <p:cNvPr id="89" name="Google Shape;89;p13"/>
          <p:cNvCxnSpPr/>
          <p:nvPr/>
        </p:nvCxnSpPr>
        <p:spPr>
          <a:xfrm>
            <a:off x="0" y="676275"/>
            <a:ext cx="92964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A3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503750" y="1706450"/>
            <a:ext cx="4348589" cy="6837415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9" l="0" r="0" t="-1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562449" y="5994165"/>
            <a:ext cx="5038682" cy="3269283"/>
            <a:chOff x="-367673" y="1871917"/>
            <a:chExt cx="5920200" cy="4359045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-367657" y="1871917"/>
              <a:ext cx="53466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Sistema Multiagente</a:t>
              </a:r>
              <a:endParaRPr sz="22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-367673" y="3070161"/>
              <a:ext cx="5920200" cy="31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 agente de IA opera como um sistema </a:t>
              </a:r>
              <a:r>
                <a:rPr b="1"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multiagente autônomo</a:t>
              </a:r>
              <a:r>
                <a:rPr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utilizando tecnologia avançada para executar tarefas contábeis com eficiência e precisão em tempo real.</a:t>
              </a:r>
              <a:endParaRPr sz="22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2030925" y="6064648"/>
            <a:ext cx="6086867" cy="3263079"/>
            <a:chOff x="-1251667" y="318419"/>
            <a:chExt cx="7877400" cy="4350772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-1205293" y="318419"/>
              <a:ext cx="66165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B3C7D6"/>
                  </a:solidFill>
                  <a:latin typeface="Arial"/>
                  <a:ea typeface="Arial"/>
                  <a:cs typeface="Arial"/>
                  <a:sym typeface="Arial"/>
                </a:rPr>
                <a:t>Pipeline Híbrido</a:t>
              </a:r>
              <a:endParaRPr sz="2200"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-1251667" y="1508391"/>
              <a:ext cx="7877400" cy="31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 pipeline híbrido combina extração, validação e classificação de dados, otimizando lançamentos contábeis e oferecendo consultoria automatizada para simplificar processos complexos e garantir conformidade.</a:t>
              </a:r>
              <a:endParaRPr sz="2200"/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12120329" y="1227240"/>
            <a:ext cx="5908050" cy="3732703"/>
            <a:chOff x="-47467" y="149567"/>
            <a:chExt cx="7877400" cy="4976937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112077" y="149567"/>
              <a:ext cx="63930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B3C7D6"/>
                  </a:solidFill>
                  <a:latin typeface="Arial"/>
                  <a:ea typeface="Arial"/>
                  <a:cs typeface="Arial"/>
                  <a:sym typeface="Arial"/>
                </a:rPr>
                <a:t>Tecnologias-Chave</a:t>
              </a:r>
              <a:endParaRPr sz="2200"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-47467" y="1423904"/>
              <a:ext cx="7877400" cy="370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 sistema incorpora tecnologias como </a:t>
              </a:r>
              <a:r>
                <a:rPr b="1"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OpenAI e Google Gemini</a:t>
              </a:r>
              <a:r>
                <a:rPr i="0" lang="en-US" sz="22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garantindo precisão determinística para XML e interpretação generativa de PDFs, transformando a contabilidade moderna e melhorando resultados.</a:t>
              </a:r>
              <a:endParaRPr sz="22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-28616" y="1222868"/>
            <a:ext cx="17371647" cy="2477270"/>
            <a:chOff x="-927155" y="-452310"/>
            <a:chExt cx="23162196" cy="3303027"/>
          </a:xfrm>
        </p:grpSpPr>
        <p:sp>
          <p:nvSpPr>
            <p:cNvPr id="105" name="Google Shape;105;p14"/>
            <p:cNvSpPr txBox="1"/>
            <p:nvPr/>
          </p:nvSpPr>
          <p:spPr>
            <a:xfrm>
              <a:off x="-370859" y="-452310"/>
              <a:ext cx="22605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8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Conceito Geral</a:t>
              </a:r>
              <a:endParaRPr sz="48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-927155" y="1496217"/>
              <a:ext cx="78774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Sistema Multiagente </a:t>
              </a:r>
              <a:endParaRPr b="1" i="0" sz="30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 Arquitetura</a:t>
              </a:r>
              <a:endParaRPr sz="30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07" name="Google Shape;107;p14"/>
          <p:cNvCxnSpPr/>
          <p:nvPr/>
        </p:nvCxnSpPr>
        <p:spPr>
          <a:xfrm>
            <a:off x="0" y="6762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0" y="96297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tracao de dados "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3645" y="0"/>
            <a:ext cx="7434355" cy="391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5"/>
          <p:cNvGrpSpPr/>
          <p:nvPr/>
        </p:nvGrpSpPr>
        <p:grpSpPr>
          <a:xfrm>
            <a:off x="459127" y="4130230"/>
            <a:ext cx="4383143" cy="5473950"/>
            <a:chOff x="0" y="0"/>
            <a:chExt cx="5346600" cy="7298600"/>
          </a:xfrm>
        </p:grpSpPr>
        <p:sp>
          <p:nvSpPr>
            <p:cNvPr id="115" name="Google Shape;115;p15"/>
            <p:cNvSpPr txBox="1"/>
            <p:nvPr/>
          </p:nvSpPr>
          <p:spPr>
            <a:xfrm>
              <a:off x="0" y="0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Precisão Determinística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1244600"/>
              <a:ext cx="5346600" cy="60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precisão determinística é fundamental na extração e validação de dados fiscais, assegurando que informações em XML sejam corretamente processadas e integradas, minimizando erros e retrabalho.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6626728" y="4502610"/>
            <a:ext cx="4840812" cy="5040825"/>
            <a:chOff x="0" y="0"/>
            <a:chExt cx="5346600" cy="6721100"/>
          </a:xfrm>
        </p:grpSpPr>
        <p:sp>
          <p:nvSpPr>
            <p:cNvPr id="118" name="Google Shape;118;p15"/>
            <p:cNvSpPr txBox="1"/>
            <p:nvPr/>
          </p:nvSpPr>
          <p:spPr>
            <a:xfrm>
              <a:off x="0" y="0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Interpretação Generativa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0" y="1282700"/>
              <a:ext cx="5346600" cy="5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interpretação generativa permite a análise de documentos em PDF, transformando dados não estruturados em insights valiosos, facilitando a categorização e a geração de relatórios dinâmicos.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13120050" y="4419854"/>
            <a:ext cx="4840812" cy="5012250"/>
            <a:chOff x="0" y="0"/>
            <a:chExt cx="5346600" cy="6683000"/>
          </a:xfrm>
        </p:grpSpPr>
        <p:sp>
          <p:nvSpPr>
            <p:cNvPr id="121" name="Google Shape;121;p15"/>
            <p:cNvSpPr txBox="1"/>
            <p:nvPr/>
          </p:nvSpPr>
          <p:spPr>
            <a:xfrm>
              <a:off x="0" y="0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Componentes Essenciais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1244600"/>
              <a:ext cx="5346600" cy="5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Os componentes essenciais incluem tecnologias como OpenAI e Google Gemini, que garantem a robustez do sistema, combinando aprendizado de máquina avançado com práticas contábeis modernas, otimizando processos.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138350" y="828944"/>
            <a:ext cx="17247987" cy="2243431"/>
            <a:chOff x="-704533" y="180975"/>
            <a:chExt cx="22997316" cy="2991242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-313117" y="180975"/>
              <a:ext cx="22605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8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Arquitetura e Tecnologias</a:t>
              </a:r>
              <a:endParaRPr sz="48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-704533" y="1817717"/>
              <a:ext cx="126570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Precisão Determinística e Interpretação Generativa</a:t>
              </a:r>
              <a:endParaRPr sz="30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26" name="Google Shape;126;p15"/>
          <p:cNvCxnSpPr/>
          <p:nvPr/>
        </p:nvCxnSpPr>
        <p:spPr>
          <a:xfrm>
            <a:off x="0" y="6762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5"/>
          <p:cNvCxnSpPr/>
          <p:nvPr/>
        </p:nvCxnSpPr>
        <p:spPr>
          <a:xfrm>
            <a:off x="0" y="96297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5"/>
          <p:cNvCxnSpPr/>
          <p:nvPr/>
        </p:nvCxnSpPr>
        <p:spPr>
          <a:xfrm>
            <a:off x="5815075" y="3910275"/>
            <a:ext cx="0" cy="54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5"/>
          <p:cNvCxnSpPr/>
          <p:nvPr/>
        </p:nvCxnSpPr>
        <p:spPr>
          <a:xfrm>
            <a:off x="12425500" y="3981363"/>
            <a:ext cx="0" cy="54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A3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165502" y="1320623"/>
            <a:ext cx="95604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8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Funcionalidades Principais do Agente de IA</a:t>
            </a:r>
            <a:endParaRPr sz="4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61975" y="4094672"/>
            <a:ext cx="4010220" cy="2578409"/>
          </a:xfrm>
          <a:custGeom>
            <a:rect b="b" l="l" r="r" t="t"/>
            <a:pathLst>
              <a:path extrusionOk="0" h="335949" w="621258">
                <a:moveTo>
                  <a:pt x="0" y="0"/>
                </a:moveTo>
                <a:lnTo>
                  <a:pt x="621258" y="0"/>
                </a:lnTo>
                <a:lnTo>
                  <a:pt x="621258" y="335949"/>
                </a:lnTo>
                <a:lnTo>
                  <a:pt x="0" y="33594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8" r="-419" t="0"/>
            </a:stretch>
          </a:blipFill>
          <a:ln>
            <a:noFill/>
          </a:ln>
        </p:spPr>
      </p:sp>
      <p:sp>
        <p:nvSpPr>
          <p:cNvPr id="136" name="Google Shape;136;p16"/>
          <p:cNvSpPr/>
          <p:nvPr/>
        </p:nvSpPr>
        <p:spPr>
          <a:xfrm>
            <a:off x="10143127" y="2674275"/>
            <a:ext cx="4010220" cy="2578178"/>
          </a:xfrm>
          <a:custGeom>
            <a:rect b="b" l="l" r="r" t="t"/>
            <a:pathLst>
              <a:path extrusionOk="0" h="339569" w="621258">
                <a:moveTo>
                  <a:pt x="0" y="0"/>
                </a:moveTo>
                <a:lnTo>
                  <a:pt x="621258" y="0"/>
                </a:lnTo>
                <a:lnTo>
                  <a:pt x="621258" y="339569"/>
                </a:lnTo>
                <a:lnTo>
                  <a:pt x="0" y="33956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75" r="-374" t="0"/>
            </a:stretch>
          </a:blipFill>
          <a:ln>
            <a:noFill/>
          </a:ln>
        </p:spPr>
      </p:sp>
      <p:sp>
        <p:nvSpPr>
          <p:cNvPr id="137" name="Google Shape;137;p16"/>
          <p:cNvSpPr/>
          <p:nvPr/>
        </p:nvSpPr>
        <p:spPr>
          <a:xfrm>
            <a:off x="6714245" y="6548948"/>
            <a:ext cx="4010220" cy="2664872"/>
          </a:xfrm>
          <a:custGeom>
            <a:rect b="b" l="l" r="r" t="t"/>
            <a:pathLst>
              <a:path extrusionOk="0" h="335415" w="621258">
                <a:moveTo>
                  <a:pt x="0" y="0"/>
                </a:moveTo>
                <a:lnTo>
                  <a:pt x="621258" y="0"/>
                </a:lnTo>
                <a:lnTo>
                  <a:pt x="621258" y="335415"/>
                </a:lnTo>
                <a:lnTo>
                  <a:pt x="0" y="33541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38" r="-337" t="0"/>
            </a:stretch>
          </a:blipFill>
          <a:ln>
            <a:noFill/>
          </a:ln>
        </p:spPr>
      </p:sp>
      <p:grpSp>
        <p:nvGrpSpPr>
          <p:cNvPr id="138" name="Google Shape;138;p16"/>
          <p:cNvGrpSpPr/>
          <p:nvPr/>
        </p:nvGrpSpPr>
        <p:grpSpPr>
          <a:xfrm>
            <a:off x="562075" y="6962645"/>
            <a:ext cx="4009950" cy="2191791"/>
            <a:chOff x="0" y="-9525"/>
            <a:chExt cx="5346600" cy="2922388"/>
          </a:xfrm>
        </p:grpSpPr>
        <p:sp>
          <p:nvSpPr>
            <p:cNvPr id="139" name="Google Shape;139;p16"/>
            <p:cNvSpPr txBox="1"/>
            <p:nvPr/>
          </p:nvSpPr>
          <p:spPr>
            <a:xfrm>
              <a:off x="0" y="1168963"/>
              <a:ext cx="5346600" cy="17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Captura e checagem automática de dados fiscais.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-9525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Extração e Validação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4239576" y="2561225"/>
            <a:ext cx="3721234" cy="3052562"/>
            <a:chOff x="2615697" y="-4661882"/>
            <a:chExt cx="5346600" cy="4070082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2615697" y="-2951300"/>
              <a:ext cx="5346600" cy="235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Categorização inteligente de despesas e centros de custo.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2615697" y="-4661882"/>
              <a:ext cx="5346600" cy="11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Classificação e Categorização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1087319" y="6831735"/>
            <a:ext cx="4009950" cy="2191369"/>
            <a:chOff x="0" y="-9525"/>
            <a:chExt cx="5346600" cy="2921825"/>
          </a:xfrm>
        </p:grpSpPr>
        <p:sp>
          <p:nvSpPr>
            <p:cNvPr id="145" name="Google Shape;145;p16"/>
            <p:cNvSpPr txBox="1"/>
            <p:nvPr/>
          </p:nvSpPr>
          <p:spPr>
            <a:xfrm>
              <a:off x="0" y="1168400"/>
              <a:ext cx="5346600" cy="17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Geração automática de partidas dobradas para ERP.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0" y="-9525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Lançamentos Contábeis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47" name="Google Shape;147;p16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7741225" y="7617900"/>
            <a:ext cx="703350" cy="846288"/>
          </a:xfrm>
          <a:prstGeom prst="flowChartDocumen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741225" y="5846250"/>
            <a:ext cx="703350" cy="846288"/>
          </a:xfrm>
          <a:prstGeom prst="flowChartDocumen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741225" y="4063375"/>
            <a:ext cx="703350" cy="846288"/>
          </a:xfrm>
          <a:prstGeom prst="flowChartDocumen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0"/>
            <a:ext cx="6115050" cy="10287000"/>
          </a:xfrm>
          <a:custGeom>
            <a:rect b="b" l="l" r="r" t="t"/>
            <a:pathLst>
              <a:path extrusionOk="0" h="1593725" w="947381">
                <a:moveTo>
                  <a:pt x="0" y="0"/>
                </a:moveTo>
                <a:lnTo>
                  <a:pt x="947381" y="0"/>
                </a:lnTo>
                <a:lnTo>
                  <a:pt x="947381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" l="0" r="0" t="-56"/>
            </a:stretch>
          </a:blipFill>
          <a:ln>
            <a:noFill/>
          </a:ln>
        </p:spPr>
      </p:sp>
      <p:sp>
        <p:nvSpPr>
          <p:cNvPr id="157" name="Google Shape;157;p17"/>
          <p:cNvSpPr txBox="1"/>
          <p:nvPr/>
        </p:nvSpPr>
        <p:spPr>
          <a:xfrm>
            <a:off x="7858125" y="1042966"/>
            <a:ext cx="97632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8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Consultor em Linguagem Natural</a:t>
            </a:r>
            <a:endParaRPr sz="4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296400" y="4248150"/>
            <a:ext cx="8325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Consultas simples e intuitivas para relatórios gerenciais eficazes.</a:t>
            </a:r>
            <a:endParaRPr sz="2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9296400" y="6038850"/>
            <a:ext cx="8325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Interação amigável que facilita o acesso a insights contábeis.</a:t>
            </a:r>
            <a:endParaRPr sz="2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9296400" y="7829550"/>
            <a:ext cx="8325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B3C7D6"/>
                </a:solidFill>
                <a:latin typeface="Roboto Mono"/>
                <a:ea typeface="Roboto Mono"/>
                <a:cs typeface="Roboto Mono"/>
                <a:sym typeface="Roboto Mono"/>
              </a:rPr>
              <a:t>Exemplos práticos para compreensão e aplicação imediata.</a:t>
            </a:r>
            <a:endParaRPr sz="2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858125" y="4286250"/>
            <a:ext cx="113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858125" y="6076950"/>
            <a:ext cx="113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858125" y="7867650"/>
            <a:ext cx="113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64" name="Google Shape;164;p17"/>
          <p:cNvCxnSpPr/>
          <p:nvPr/>
        </p:nvCxnSpPr>
        <p:spPr>
          <a:xfrm>
            <a:off x="6115050" y="676275"/>
            <a:ext cx="1217295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7"/>
          <p:cNvCxnSpPr/>
          <p:nvPr/>
        </p:nvCxnSpPr>
        <p:spPr>
          <a:xfrm>
            <a:off x="6115050" y="9620250"/>
            <a:ext cx="1217295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A3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8"/>
          <p:cNvGrpSpPr/>
          <p:nvPr/>
        </p:nvGrpSpPr>
        <p:grpSpPr>
          <a:xfrm>
            <a:off x="666750" y="4419856"/>
            <a:ext cx="4385281" cy="5012700"/>
            <a:chOff x="0" y="0"/>
            <a:chExt cx="5346600" cy="6683600"/>
          </a:xfrm>
        </p:grpSpPr>
        <p:sp>
          <p:nvSpPr>
            <p:cNvPr id="171" name="Google Shape;171;p18"/>
            <p:cNvSpPr txBox="1"/>
            <p:nvPr/>
          </p:nvSpPr>
          <p:spPr>
            <a:xfrm>
              <a:off x="0" y="0"/>
              <a:ext cx="53466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Investidores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0" y="1244600"/>
              <a:ext cx="5346600" cy="54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 agente de IA oferece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escalabilidade e inovação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tecnológica, atraindo investimentos com um mercado crescente e um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alto retorno sobre o investimento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esperado para os stakeholders.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6171597" y="4999117"/>
            <a:ext cx="5707125" cy="4496832"/>
            <a:chOff x="-331005" y="-827511"/>
            <a:chExt cx="7609500" cy="5995776"/>
          </a:xfrm>
        </p:grpSpPr>
        <p:sp>
          <p:nvSpPr>
            <p:cNvPr id="174" name="Google Shape;174;p18"/>
            <p:cNvSpPr txBox="1"/>
            <p:nvPr/>
          </p:nvSpPr>
          <p:spPr>
            <a:xfrm>
              <a:off x="0" y="-827511"/>
              <a:ext cx="65613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Contadores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-331005" y="344865"/>
              <a:ext cx="7609500" cy="48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solução reduz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erros manuais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aumenta a produtividade, permitindo que contadores integrem facilmente novos recursos e automatizem relatórios, melhorando a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eficiência operacional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nos processos contábeis.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2752208" y="4957748"/>
            <a:ext cx="4920975" cy="4551000"/>
            <a:chOff x="772344" y="-882669"/>
            <a:chExt cx="6561300" cy="6068000"/>
          </a:xfrm>
        </p:grpSpPr>
        <p:sp>
          <p:nvSpPr>
            <p:cNvPr id="177" name="Google Shape;177;p18"/>
            <p:cNvSpPr txBox="1"/>
            <p:nvPr/>
          </p:nvSpPr>
          <p:spPr>
            <a:xfrm>
              <a:off x="772344" y="-882669"/>
              <a:ext cx="65613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Empresas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772344" y="361931"/>
              <a:ext cx="6561300" cy="48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 um diferencial competitivo, as empresas podem reduzir custos operacionais e garantir suporte para compliance e obrigações acessórias, maximizando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eficácia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do seu funcionamento diário.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666750" y="953071"/>
            <a:ext cx="16954425" cy="1785664"/>
            <a:chOff x="0" y="-591369"/>
            <a:chExt cx="22605900" cy="2380886"/>
          </a:xfrm>
        </p:grpSpPr>
        <p:sp>
          <p:nvSpPr>
            <p:cNvPr id="180" name="Google Shape;180;p18"/>
            <p:cNvSpPr txBox="1"/>
            <p:nvPr/>
          </p:nvSpPr>
          <p:spPr>
            <a:xfrm>
              <a:off x="0" y="-591369"/>
              <a:ext cx="22605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8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Benefícios do Agente</a:t>
              </a:r>
              <a:endParaRPr sz="48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0" y="1173917"/>
              <a:ext cx="22605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Ganhos para Investidores, Contadores e Empresas</a:t>
              </a:r>
              <a:endParaRPr sz="30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82" name="Google Shape;182;p18"/>
          <p:cNvCxnSpPr/>
          <p:nvPr/>
        </p:nvCxnSpPr>
        <p:spPr>
          <a:xfrm>
            <a:off x="0" y="6762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8"/>
          <p:cNvCxnSpPr/>
          <p:nvPr/>
        </p:nvCxnSpPr>
        <p:spPr>
          <a:xfrm>
            <a:off x="0" y="96297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8"/>
          <p:cNvCxnSpPr/>
          <p:nvPr/>
        </p:nvCxnSpPr>
        <p:spPr>
          <a:xfrm>
            <a:off x="5815075" y="3910275"/>
            <a:ext cx="0" cy="54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/>
          <p:nvPr/>
        </p:nvCxnSpPr>
        <p:spPr>
          <a:xfrm>
            <a:off x="12278750" y="4031350"/>
            <a:ext cx="0" cy="54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9"/>
          <p:cNvGrpSpPr/>
          <p:nvPr/>
        </p:nvGrpSpPr>
        <p:grpSpPr>
          <a:xfrm>
            <a:off x="666750" y="1697831"/>
            <a:ext cx="6886575" cy="6757894"/>
            <a:chOff x="0" y="180975"/>
            <a:chExt cx="9182100" cy="9010525"/>
          </a:xfrm>
        </p:grpSpPr>
        <p:sp>
          <p:nvSpPr>
            <p:cNvPr id="191" name="Google Shape;191;p19"/>
            <p:cNvSpPr txBox="1"/>
            <p:nvPr/>
          </p:nvSpPr>
          <p:spPr>
            <a:xfrm>
              <a:off x="0" y="180975"/>
              <a:ext cx="9182100" cy="19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8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Conclusão e Próximos Passos</a:t>
              </a:r>
              <a:endParaRPr sz="48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0" y="5842000"/>
              <a:ext cx="9182100" cy="3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Automação Inteligente e Benefícios Claros</a:t>
              </a:r>
              <a:endParaRPr sz="48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93" name="Google Shape;193;p19"/>
          <p:cNvCxnSpPr/>
          <p:nvPr/>
        </p:nvCxnSpPr>
        <p:spPr>
          <a:xfrm>
            <a:off x="0" y="676275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9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19"/>
          <p:cNvGrpSpPr/>
          <p:nvPr/>
        </p:nvGrpSpPr>
        <p:grpSpPr>
          <a:xfrm>
            <a:off x="10703175" y="4932274"/>
            <a:ext cx="6886575" cy="4219640"/>
            <a:chOff x="1875700" y="-992834"/>
            <a:chExt cx="9182100" cy="5626187"/>
          </a:xfrm>
        </p:grpSpPr>
        <p:sp>
          <p:nvSpPr>
            <p:cNvPr id="196" name="Google Shape;196;p19"/>
            <p:cNvSpPr txBox="1"/>
            <p:nvPr/>
          </p:nvSpPr>
          <p:spPr>
            <a:xfrm>
              <a:off x="1875700" y="-992834"/>
              <a:ext cx="918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Resumo dos Benefícios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1875700" y="427353"/>
              <a:ext cx="9182100" cy="42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proposta de um agente de IA oferece </a:t>
              </a:r>
              <a:r>
                <a:rPr b="1"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soluções inovadoras</a:t>
              </a:r>
              <a:r>
                <a:rPr i="0" lang="en-US" sz="2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para contabilidade, aumentando a precisão, reduzindo custos e promovendo eficiência, beneficiando investidores, contadores e empresas de contabilidade.</a:t>
              </a:r>
              <a:endParaRPr sz="2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198" name="Google Shape;198;p19"/>
          <p:cNvCxnSpPr/>
          <p:nvPr/>
        </p:nvCxnSpPr>
        <p:spPr>
          <a:xfrm>
            <a:off x="9777975" y="3750725"/>
            <a:ext cx="0" cy="54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A3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7858125" y="0"/>
            <a:ext cx="10429875" cy="10287000"/>
          </a:xfrm>
          <a:custGeom>
            <a:rect b="b" l="l" r="r" t="t"/>
            <a:pathLst>
              <a:path extrusionOk="0" h="1593725" w="1615861">
                <a:moveTo>
                  <a:pt x="0" y="0"/>
                </a:moveTo>
                <a:lnTo>
                  <a:pt x="1615861" y="0"/>
                </a:lnTo>
                <a:lnTo>
                  <a:pt x="1615861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92" r="-191" t="0"/>
            </a:stretch>
          </a:blipFill>
          <a:ln>
            <a:noFill/>
          </a:ln>
        </p:spPr>
      </p:sp>
      <p:grpSp>
        <p:nvGrpSpPr>
          <p:cNvPr id="204" name="Google Shape;204;p20"/>
          <p:cNvGrpSpPr/>
          <p:nvPr/>
        </p:nvGrpSpPr>
        <p:grpSpPr>
          <a:xfrm>
            <a:off x="749501" y="1288018"/>
            <a:ext cx="6205500" cy="4048847"/>
            <a:chOff x="110335" y="-366570"/>
            <a:chExt cx="8274000" cy="5398463"/>
          </a:xfrm>
        </p:grpSpPr>
        <p:sp>
          <p:nvSpPr>
            <p:cNvPr id="205" name="Google Shape;205;p20"/>
            <p:cNvSpPr txBox="1"/>
            <p:nvPr/>
          </p:nvSpPr>
          <p:spPr>
            <a:xfrm>
              <a:off x="275837" y="-366570"/>
              <a:ext cx="72645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Contato</a:t>
              </a:r>
              <a:endParaRPr sz="3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10335" y="1728594"/>
              <a:ext cx="8274000" cy="330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5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Estamos prontos para discutir como podemos colaborar e impulsionar seu negócio.</a:t>
              </a:r>
              <a:endParaRPr sz="35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577025" y="7142525"/>
            <a:ext cx="6673170" cy="1760108"/>
            <a:chOff x="0" y="0"/>
            <a:chExt cx="7264500" cy="2346811"/>
          </a:xfrm>
        </p:grpSpPr>
        <p:sp>
          <p:nvSpPr>
            <p:cNvPr id="208" name="Google Shape;208;p20"/>
            <p:cNvSpPr txBox="1"/>
            <p:nvPr/>
          </p:nvSpPr>
          <p:spPr>
            <a:xfrm>
              <a:off x="0" y="0"/>
              <a:ext cx="7264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0" y="482600"/>
              <a:ext cx="7264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DOCUMENTAÇÃO:</a:t>
              </a:r>
              <a:endParaRPr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1792711"/>
              <a:ext cx="7264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GITHUB:</a:t>
              </a:r>
              <a:r>
                <a:rPr i="0" lang="en-US" sz="2700" u="none" cap="none" strike="noStrike">
                  <a:solidFill>
                    <a:srgbClr val="B3C7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www.reallygreatsite.com</a:t>
              </a:r>
              <a:endParaRPr sz="27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211" name="Google Shape;211;p20"/>
          <p:cNvCxnSpPr/>
          <p:nvPr/>
        </p:nvCxnSpPr>
        <p:spPr>
          <a:xfrm>
            <a:off x="0" y="676275"/>
            <a:ext cx="7858125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0" y="9629775"/>
            <a:ext cx="7858125" cy="0"/>
          </a:xfrm>
          <a:prstGeom prst="straightConnector1">
            <a:avLst/>
          </a:prstGeom>
          <a:noFill/>
          <a:ln cap="flat" cmpd="sng" w="19050">
            <a:solidFill>
              <a:srgbClr val="B3C7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